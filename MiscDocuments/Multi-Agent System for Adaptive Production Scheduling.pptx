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sldIdLst>
    <p:sldId id="256" r:id="rId2"/>
    <p:sldId id="258" r:id="rId3"/>
    <p:sldId id="257" r:id="rId4"/>
    <p:sldId id="261" r:id="rId5"/>
    <p:sldId id="259"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DF8FDC-1422-420E-8407-84B8BA5C5865}"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A53149-3094-4815-8207-A3C506CB0FB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697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DF8FDC-1422-420E-8407-84B8BA5C5865}"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A53149-3094-4815-8207-A3C506CB0FB9}" type="slidenum">
              <a:rPr lang="en-IN" smtClean="0"/>
              <a:t>‹#›</a:t>
            </a:fld>
            <a:endParaRPr lang="en-IN"/>
          </a:p>
        </p:txBody>
      </p:sp>
    </p:spTree>
    <p:extLst>
      <p:ext uri="{BB962C8B-B14F-4D97-AF65-F5344CB8AC3E}">
        <p14:creationId xmlns:p14="http://schemas.microsoft.com/office/powerpoint/2010/main" val="2584742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DF8FDC-1422-420E-8407-84B8BA5C5865}"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A53149-3094-4815-8207-A3C506CB0FB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7903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DF8FDC-1422-420E-8407-84B8BA5C5865}"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A53149-3094-4815-8207-A3C506CB0FB9}" type="slidenum">
              <a:rPr lang="en-IN" smtClean="0"/>
              <a:t>‹#›</a:t>
            </a:fld>
            <a:endParaRPr lang="en-IN"/>
          </a:p>
        </p:txBody>
      </p:sp>
    </p:spTree>
    <p:extLst>
      <p:ext uri="{BB962C8B-B14F-4D97-AF65-F5344CB8AC3E}">
        <p14:creationId xmlns:p14="http://schemas.microsoft.com/office/powerpoint/2010/main" val="2143450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DF8FDC-1422-420E-8407-84B8BA5C5865}" type="datetimeFigureOut">
              <a:rPr lang="en-IN" smtClean="0"/>
              <a:t>22-09-2025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0A53149-3094-4815-8207-A3C506CB0FB9}" type="slidenum">
              <a:rPr lang="en-IN" smtClean="0"/>
              <a:t>‹#›</a:t>
            </a:fld>
            <a:endParaRPr lang="en-IN"/>
          </a:p>
        </p:txBody>
      </p:sp>
    </p:spTree>
    <p:extLst>
      <p:ext uri="{BB962C8B-B14F-4D97-AF65-F5344CB8AC3E}">
        <p14:creationId xmlns:p14="http://schemas.microsoft.com/office/powerpoint/2010/main" val="2282916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DF8FDC-1422-420E-8407-84B8BA5C5865}" type="datetimeFigureOut">
              <a:rPr lang="en-IN" smtClean="0"/>
              <a:t>22-09-2025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A53149-3094-4815-8207-A3C506CB0FB9}" type="slidenum">
              <a:rPr lang="en-IN" smtClean="0"/>
              <a:t>‹#›</a:t>
            </a:fld>
            <a:endParaRPr lang="en-IN"/>
          </a:p>
        </p:txBody>
      </p:sp>
    </p:spTree>
    <p:extLst>
      <p:ext uri="{BB962C8B-B14F-4D97-AF65-F5344CB8AC3E}">
        <p14:creationId xmlns:p14="http://schemas.microsoft.com/office/powerpoint/2010/main" val="3125468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2DF8FDC-1422-420E-8407-84B8BA5C5865}" type="datetimeFigureOut">
              <a:rPr lang="en-IN" smtClean="0"/>
              <a:t>22-09-2025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A0A53149-3094-4815-8207-A3C506CB0FB9}" type="slidenum">
              <a:rPr lang="en-IN" smtClean="0"/>
              <a:t>‹#›</a:t>
            </a:fld>
            <a:endParaRPr lang="en-IN"/>
          </a:p>
        </p:txBody>
      </p:sp>
    </p:spTree>
    <p:extLst>
      <p:ext uri="{BB962C8B-B14F-4D97-AF65-F5344CB8AC3E}">
        <p14:creationId xmlns:p14="http://schemas.microsoft.com/office/powerpoint/2010/main" val="1547915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2DF8FDC-1422-420E-8407-84B8BA5C5865}" type="datetimeFigureOut">
              <a:rPr lang="en-IN" smtClean="0"/>
              <a:t>22-09-2025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0A53149-3094-4815-8207-A3C506CB0FB9}" type="slidenum">
              <a:rPr lang="en-IN" smtClean="0"/>
              <a:t>‹#›</a:t>
            </a:fld>
            <a:endParaRPr lang="en-IN"/>
          </a:p>
        </p:txBody>
      </p:sp>
    </p:spTree>
    <p:extLst>
      <p:ext uri="{BB962C8B-B14F-4D97-AF65-F5344CB8AC3E}">
        <p14:creationId xmlns:p14="http://schemas.microsoft.com/office/powerpoint/2010/main" val="3158621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DF8FDC-1422-420E-8407-84B8BA5C5865}"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A53149-3094-4815-8207-A3C506CB0FB9}" type="slidenum">
              <a:rPr lang="en-IN" smtClean="0"/>
              <a:t>‹#›</a:t>
            </a:fld>
            <a:endParaRPr lang="en-IN"/>
          </a:p>
        </p:txBody>
      </p:sp>
    </p:spTree>
    <p:extLst>
      <p:ext uri="{BB962C8B-B14F-4D97-AF65-F5344CB8AC3E}">
        <p14:creationId xmlns:p14="http://schemas.microsoft.com/office/powerpoint/2010/main" val="1207149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DF8FDC-1422-420E-8407-84B8BA5C5865}"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A53149-3094-4815-8207-A3C506CB0FB9}" type="slidenum">
              <a:rPr lang="en-IN" smtClean="0"/>
              <a:t>‹#›</a:t>
            </a:fld>
            <a:endParaRPr lang="en-IN"/>
          </a:p>
        </p:txBody>
      </p:sp>
    </p:spTree>
    <p:extLst>
      <p:ext uri="{BB962C8B-B14F-4D97-AF65-F5344CB8AC3E}">
        <p14:creationId xmlns:p14="http://schemas.microsoft.com/office/powerpoint/2010/main" val="2586606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DF8FDC-1422-420E-8407-84B8BA5C5865}"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A53149-3094-4815-8207-A3C506CB0FB9}" type="slidenum">
              <a:rPr lang="en-IN" smtClean="0"/>
              <a:t>‹#›</a:t>
            </a:fld>
            <a:endParaRPr lang="en-IN"/>
          </a:p>
        </p:txBody>
      </p:sp>
    </p:spTree>
    <p:extLst>
      <p:ext uri="{BB962C8B-B14F-4D97-AF65-F5344CB8AC3E}">
        <p14:creationId xmlns:p14="http://schemas.microsoft.com/office/powerpoint/2010/main" val="976133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2DF8FDC-1422-420E-8407-84B8BA5C5865}" type="datetimeFigureOut">
              <a:rPr lang="en-IN" smtClean="0"/>
              <a:t>22-09-2025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0A53149-3094-4815-8207-A3C506CB0FB9}"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221708"/>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9CA30-EEC1-A62D-B068-23AE40A79DEA}"/>
              </a:ext>
            </a:extLst>
          </p:cNvPr>
          <p:cNvSpPr>
            <a:spLocks noGrp="1"/>
          </p:cNvSpPr>
          <p:nvPr>
            <p:ph type="ctrTitle"/>
          </p:nvPr>
        </p:nvSpPr>
        <p:spPr>
          <a:xfrm>
            <a:off x="1524000" y="1653305"/>
            <a:ext cx="9144000" cy="2387600"/>
          </a:xfrm>
        </p:spPr>
        <p:txBody>
          <a:bodyPr>
            <a:noAutofit/>
          </a:bodyPr>
          <a:lstStyle/>
          <a:p>
            <a:r>
              <a:rPr lang="en-US" sz="2800" dirty="0"/>
              <a:t>Multi-Agent System for Adaptive Production Scheduling: Develop a multi-agent system where individual agents represent different machines and production lines. They use generative AI to dynamically adjust production schedules in response to unforeseen events (e.g., machine breakdown, rush orders) and RAG to access real-time factory data</a:t>
            </a:r>
            <a:endParaRPr lang="en-IN" sz="2800" dirty="0"/>
          </a:p>
        </p:txBody>
      </p:sp>
      <p:sp>
        <p:nvSpPr>
          <p:cNvPr id="3" name="Subtitle 2">
            <a:extLst>
              <a:ext uri="{FF2B5EF4-FFF2-40B4-BE49-F238E27FC236}">
                <a16:creationId xmlns:a16="http://schemas.microsoft.com/office/drawing/2014/main" id="{A1D82CE6-8CAB-0244-0578-0C1E208BAAE4}"/>
              </a:ext>
            </a:extLst>
          </p:cNvPr>
          <p:cNvSpPr>
            <a:spLocks noGrp="1"/>
          </p:cNvSpPr>
          <p:nvPr>
            <p:ph type="subTitle" idx="1"/>
          </p:nvPr>
        </p:nvSpPr>
        <p:spPr>
          <a:xfrm>
            <a:off x="1406013" y="4644258"/>
            <a:ext cx="9144000" cy="1655762"/>
          </a:xfrm>
        </p:spPr>
        <p:txBody>
          <a:bodyPr>
            <a:normAutofit/>
          </a:bodyPr>
          <a:lstStyle/>
          <a:p>
            <a:pPr algn="ctr"/>
            <a:r>
              <a:rPr lang="en-US" sz="3200" dirty="0"/>
              <a:t>Group 24</a:t>
            </a:r>
            <a:endParaRPr lang="en-IN" sz="3200" dirty="0"/>
          </a:p>
        </p:txBody>
      </p:sp>
      <p:sp>
        <p:nvSpPr>
          <p:cNvPr id="4" name="TextBox 3">
            <a:extLst>
              <a:ext uri="{FF2B5EF4-FFF2-40B4-BE49-F238E27FC236}">
                <a16:creationId xmlns:a16="http://schemas.microsoft.com/office/drawing/2014/main" id="{BC6E9C99-7242-362F-6670-2B20927710B6}"/>
              </a:ext>
            </a:extLst>
          </p:cNvPr>
          <p:cNvSpPr txBox="1"/>
          <p:nvPr/>
        </p:nvSpPr>
        <p:spPr>
          <a:xfrm>
            <a:off x="9478297" y="4621161"/>
            <a:ext cx="2301592" cy="1200329"/>
          </a:xfrm>
          <a:prstGeom prst="rect">
            <a:avLst/>
          </a:prstGeom>
          <a:noFill/>
        </p:spPr>
        <p:txBody>
          <a:bodyPr wrap="none" rtlCol="0">
            <a:spAutoFit/>
          </a:bodyPr>
          <a:lstStyle/>
          <a:p>
            <a:r>
              <a:rPr lang="en-US" dirty="0"/>
              <a:t>Vaishnavi Poti -78</a:t>
            </a:r>
          </a:p>
          <a:p>
            <a:r>
              <a:rPr lang="en-US" dirty="0"/>
              <a:t>Shweta </a:t>
            </a:r>
            <a:r>
              <a:rPr lang="en-US" dirty="0" err="1"/>
              <a:t>Sidhwani</a:t>
            </a:r>
            <a:r>
              <a:rPr lang="en-US" dirty="0"/>
              <a:t> - 103</a:t>
            </a:r>
          </a:p>
          <a:p>
            <a:r>
              <a:rPr lang="en-US" dirty="0"/>
              <a:t>Ashmit Srivastava -108</a:t>
            </a:r>
          </a:p>
          <a:p>
            <a:r>
              <a:rPr lang="en-US" dirty="0"/>
              <a:t>Dhruv Tater - 113</a:t>
            </a:r>
            <a:endParaRPr lang="en-IN" dirty="0"/>
          </a:p>
        </p:txBody>
      </p:sp>
    </p:spTree>
    <p:extLst>
      <p:ext uri="{BB962C8B-B14F-4D97-AF65-F5344CB8AC3E}">
        <p14:creationId xmlns:p14="http://schemas.microsoft.com/office/powerpoint/2010/main" val="2080048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50046-86D7-3D4F-7B03-F574D4CC620D}"/>
              </a:ext>
            </a:extLst>
          </p:cNvPr>
          <p:cNvSpPr>
            <a:spLocks noGrp="1"/>
          </p:cNvSpPr>
          <p:nvPr>
            <p:ph type="title"/>
          </p:nvPr>
        </p:nvSpPr>
        <p:spPr>
          <a:xfrm>
            <a:off x="1066800" y="591403"/>
            <a:ext cx="10058400" cy="863771"/>
          </a:xfrm>
        </p:spPr>
        <p:txBody>
          <a:bodyPr/>
          <a:lstStyle/>
          <a:p>
            <a:r>
              <a:rPr lang="en-US" dirty="0"/>
              <a:t>Production Scheduling</a:t>
            </a:r>
            <a:endParaRPr lang="en-IN" dirty="0"/>
          </a:p>
        </p:txBody>
      </p:sp>
      <p:sp>
        <p:nvSpPr>
          <p:cNvPr id="5" name="TextBox 4">
            <a:extLst>
              <a:ext uri="{FF2B5EF4-FFF2-40B4-BE49-F238E27FC236}">
                <a16:creationId xmlns:a16="http://schemas.microsoft.com/office/drawing/2014/main" id="{F70B0C84-B322-E463-CE0A-0A9A1B02E08E}"/>
              </a:ext>
            </a:extLst>
          </p:cNvPr>
          <p:cNvSpPr txBox="1"/>
          <p:nvPr/>
        </p:nvSpPr>
        <p:spPr>
          <a:xfrm>
            <a:off x="1189703" y="2054943"/>
            <a:ext cx="9661177" cy="2308324"/>
          </a:xfrm>
          <a:prstGeom prst="rect">
            <a:avLst/>
          </a:prstGeom>
          <a:noFill/>
        </p:spPr>
        <p:txBody>
          <a:bodyPr wrap="square" rtlCol="0">
            <a:spAutoFit/>
          </a:bodyPr>
          <a:lstStyle/>
          <a:p>
            <a:r>
              <a:rPr lang="en-US" sz="2400" dirty="0"/>
              <a:t>Production scheduling is a process that determines the sequence and timing of manufacturing tasks to optimize resource allocation, meet production goals, and ensure timely delivery of products. It involves planning and organizing production activities to efficiently utilize resources like machinery, labor, and materials, while also considering factors like lead times, priorities, and potential bottlenecks. </a:t>
            </a:r>
            <a:endParaRPr lang="en-IN" sz="2400" dirty="0"/>
          </a:p>
        </p:txBody>
      </p:sp>
    </p:spTree>
    <p:extLst>
      <p:ext uri="{BB962C8B-B14F-4D97-AF65-F5344CB8AC3E}">
        <p14:creationId xmlns:p14="http://schemas.microsoft.com/office/powerpoint/2010/main" val="1025590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1616-607C-77D5-446D-B450B8BA7618}"/>
              </a:ext>
            </a:extLst>
          </p:cNvPr>
          <p:cNvSpPr>
            <a:spLocks noGrp="1"/>
          </p:cNvSpPr>
          <p:nvPr>
            <p:ph type="title"/>
          </p:nvPr>
        </p:nvSpPr>
        <p:spPr/>
        <p:txBody>
          <a:bodyPr/>
          <a:lstStyle/>
          <a:p>
            <a:r>
              <a:rPr lang="en-US" dirty="0"/>
              <a:t>Multi- agent System Workflow</a:t>
            </a:r>
            <a:endParaRPr lang="en-IN" dirty="0"/>
          </a:p>
        </p:txBody>
      </p:sp>
      <p:pic>
        <p:nvPicPr>
          <p:cNvPr id="5" name="Content Placeholder 4">
            <a:extLst>
              <a:ext uri="{FF2B5EF4-FFF2-40B4-BE49-F238E27FC236}">
                <a16:creationId xmlns:a16="http://schemas.microsoft.com/office/drawing/2014/main" id="{ECE5A1B7-2D3F-4551-5C29-CA11B121D6C8}"/>
              </a:ext>
            </a:extLst>
          </p:cNvPr>
          <p:cNvPicPr>
            <a:picLocks noGrp="1" noChangeAspect="1"/>
          </p:cNvPicPr>
          <p:nvPr>
            <p:ph idx="1"/>
          </p:nvPr>
        </p:nvPicPr>
        <p:blipFill>
          <a:blip r:embed="rId2"/>
          <a:stretch>
            <a:fillRect/>
          </a:stretch>
        </p:blipFill>
        <p:spPr>
          <a:xfrm>
            <a:off x="2792361" y="1935228"/>
            <a:ext cx="6233652" cy="3820850"/>
          </a:xfrm>
          <a:prstGeom prst="rect">
            <a:avLst/>
          </a:prstGeom>
        </p:spPr>
      </p:pic>
    </p:spTree>
    <p:extLst>
      <p:ext uri="{BB962C8B-B14F-4D97-AF65-F5344CB8AC3E}">
        <p14:creationId xmlns:p14="http://schemas.microsoft.com/office/powerpoint/2010/main" val="1546745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148B-8CD4-AE0A-B77A-EE9BE69CE3C9}"/>
              </a:ext>
            </a:extLst>
          </p:cNvPr>
          <p:cNvSpPr>
            <a:spLocks noGrp="1"/>
          </p:cNvSpPr>
          <p:nvPr>
            <p:ph type="title"/>
          </p:nvPr>
        </p:nvSpPr>
        <p:spPr/>
        <p:txBody>
          <a:bodyPr/>
          <a:lstStyle/>
          <a:p>
            <a:r>
              <a:rPr lang="en-US" dirty="0"/>
              <a:t>Methodologies Used</a:t>
            </a:r>
            <a:endParaRPr lang="en-IN" dirty="0"/>
          </a:p>
        </p:txBody>
      </p:sp>
      <p:sp>
        <p:nvSpPr>
          <p:cNvPr id="3" name="Content Placeholder 2">
            <a:extLst>
              <a:ext uri="{FF2B5EF4-FFF2-40B4-BE49-F238E27FC236}">
                <a16:creationId xmlns:a16="http://schemas.microsoft.com/office/drawing/2014/main" id="{949FF6BA-6E21-B0FB-9E5E-4BB1173E270F}"/>
              </a:ext>
            </a:extLst>
          </p:cNvPr>
          <p:cNvSpPr>
            <a:spLocks noGrp="1"/>
          </p:cNvSpPr>
          <p:nvPr>
            <p:ph idx="1"/>
          </p:nvPr>
        </p:nvSpPr>
        <p:spPr>
          <a:xfrm>
            <a:off x="258097" y="1715237"/>
            <a:ext cx="10664067" cy="4023360"/>
          </a:xfrm>
        </p:spPr>
        <p:txBody>
          <a:bodyPr>
            <a:normAutofit/>
          </a:bodyPr>
          <a:lstStyle/>
          <a:p>
            <a:r>
              <a:rPr lang="en-US" sz="3600" dirty="0"/>
              <a:t>1. </a:t>
            </a:r>
            <a:r>
              <a:rPr lang="en-US" sz="3600" dirty="0" err="1"/>
              <a:t>CrewAI</a:t>
            </a:r>
            <a:r>
              <a:rPr lang="en-US" sz="3600" dirty="0"/>
              <a:t> 		     2.Vanilla Python		3. </a:t>
            </a:r>
            <a:r>
              <a:rPr lang="en-US" sz="3600" dirty="0" err="1"/>
              <a:t>Langchain</a:t>
            </a:r>
            <a:endParaRPr lang="en-IN" sz="3600" dirty="0"/>
          </a:p>
          <a:p>
            <a:endParaRPr lang="en-US" sz="3600" dirty="0"/>
          </a:p>
          <a:p>
            <a:endParaRPr lang="en-US" sz="3600" dirty="0"/>
          </a:p>
          <a:p>
            <a:endParaRPr lang="en-US" sz="3600" dirty="0"/>
          </a:p>
          <a:p>
            <a:endParaRPr lang="en-US" sz="3600" dirty="0"/>
          </a:p>
        </p:txBody>
      </p:sp>
      <p:pic>
        <p:nvPicPr>
          <p:cNvPr id="1026" name="Picture 2" descr="CrewAI Logo Free Download SVG, PNG a ...">
            <a:extLst>
              <a:ext uri="{FF2B5EF4-FFF2-40B4-BE49-F238E27FC236}">
                <a16:creationId xmlns:a16="http://schemas.microsoft.com/office/drawing/2014/main" id="{C07D1038-5FB8-4302-C364-489EBD4C0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81" y="4555795"/>
            <a:ext cx="3586316" cy="112969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ython">
            <a:extLst>
              <a:ext uri="{FF2B5EF4-FFF2-40B4-BE49-F238E27FC236}">
                <a16:creationId xmlns:a16="http://schemas.microsoft.com/office/drawing/2014/main" id="{EE9F6505-60E6-7CC8-C3B0-28C0CBF6D9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6284" y="4225906"/>
            <a:ext cx="1966297" cy="196629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anguage Applications ...">
            <a:extLst>
              <a:ext uri="{FF2B5EF4-FFF2-40B4-BE49-F238E27FC236}">
                <a16:creationId xmlns:a16="http://schemas.microsoft.com/office/drawing/2014/main" id="{8DD88EA8-D85B-BD2A-50A5-CFCFA5B2B5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4809" y="4258013"/>
            <a:ext cx="3701228" cy="1934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820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8D9E2-23CC-5A44-5A4D-085F5D37344C}"/>
              </a:ext>
            </a:extLst>
          </p:cNvPr>
          <p:cNvSpPr>
            <a:spLocks noGrp="1"/>
          </p:cNvSpPr>
          <p:nvPr>
            <p:ph type="title" idx="4294967295"/>
          </p:nvPr>
        </p:nvSpPr>
        <p:spPr>
          <a:xfrm>
            <a:off x="668426" y="523762"/>
            <a:ext cx="1229032" cy="519112"/>
          </a:xfrm>
        </p:spPr>
        <p:txBody>
          <a:bodyPr>
            <a:normAutofit fontScale="90000"/>
          </a:bodyPr>
          <a:lstStyle/>
          <a:p>
            <a:r>
              <a:rPr lang="en-US" sz="3600" dirty="0"/>
              <a:t>Agent </a:t>
            </a:r>
            <a:endParaRPr lang="en-IN" sz="3600" dirty="0"/>
          </a:p>
        </p:txBody>
      </p:sp>
      <p:sp>
        <p:nvSpPr>
          <p:cNvPr id="3" name="Content Placeholder 2">
            <a:extLst>
              <a:ext uri="{FF2B5EF4-FFF2-40B4-BE49-F238E27FC236}">
                <a16:creationId xmlns:a16="http://schemas.microsoft.com/office/drawing/2014/main" id="{24BE0D1E-97A8-8564-37EB-1D87DF2E1C85}"/>
              </a:ext>
            </a:extLst>
          </p:cNvPr>
          <p:cNvSpPr>
            <a:spLocks noGrp="1"/>
          </p:cNvSpPr>
          <p:nvPr>
            <p:ph idx="4294967295"/>
          </p:nvPr>
        </p:nvSpPr>
        <p:spPr>
          <a:xfrm>
            <a:off x="650511" y="1108537"/>
            <a:ext cx="10058400" cy="1732986"/>
          </a:xfrm>
        </p:spPr>
        <p:txBody>
          <a:bodyPr/>
          <a:lstStyle/>
          <a:p>
            <a:r>
              <a:rPr lang="en-US" dirty="0"/>
              <a:t>An agent is a software program designed to perceive its environment, reason, and take actions to achieve specific goals. These agents can range from simple automated systems to complex, autonomous entities that interact with the world and learn from their experiences. They are a core component in building intelligent systems capable of performing tasks, making decisions, and solving problems. </a:t>
            </a:r>
          </a:p>
          <a:p>
            <a:endParaRPr lang="en-US" dirty="0"/>
          </a:p>
        </p:txBody>
      </p:sp>
      <p:sp>
        <p:nvSpPr>
          <p:cNvPr id="4" name="TextBox 3">
            <a:extLst>
              <a:ext uri="{FF2B5EF4-FFF2-40B4-BE49-F238E27FC236}">
                <a16:creationId xmlns:a16="http://schemas.microsoft.com/office/drawing/2014/main" id="{597E6911-BC92-8F9F-A31F-38915BA1EE11}"/>
              </a:ext>
            </a:extLst>
          </p:cNvPr>
          <p:cNvSpPr txBox="1"/>
          <p:nvPr/>
        </p:nvSpPr>
        <p:spPr>
          <a:xfrm>
            <a:off x="668426" y="2602402"/>
            <a:ext cx="901401" cy="1138773"/>
          </a:xfrm>
          <a:prstGeom prst="rect">
            <a:avLst/>
          </a:prstGeom>
          <a:noFill/>
        </p:spPr>
        <p:txBody>
          <a:bodyPr wrap="none" rtlCol="0">
            <a:spAutoFit/>
          </a:bodyPr>
          <a:lstStyle/>
          <a:p>
            <a:r>
              <a:rPr lang="en-US" sz="3200" dirty="0"/>
              <a:t>RAG</a:t>
            </a:r>
          </a:p>
          <a:p>
            <a:endParaRPr lang="en-IN" sz="3600" dirty="0"/>
          </a:p>
        </p:txBody>
      </p:sp>
      <p:sp>
        <p:nvSpPr>
          <p:cNvPr id="6" name="TextBox 5">
            <a:extLst>
              <a:ext uri="{FF2B5EF4-FFF2-40B4-BE49-F238E27FC236}">
                <a16:creationId xmlns:a16="http://schemas.microsoft.com/office/drawing/2014/main" id="{EA1F7C8A-8EAE-FF6E-5C77-1E057778BC40}"/>
              </a:ext>
            </a:extLst>
          </p:cNvPr>
          <p:cNvSpPr txBox="1"/>
          <p:nvPr/>
        </p:nvSpPr>
        <p:spPr>
          <a:xfrm>
            <a:off x="650511" y="3141010"/>
            <a:ext cx="9978160" cy="1200329"/>
          </a:xfrm>
          <a:prstGeom prst="rect">
            <a:avLst/>
          </a:prstGeom>
          <a:noFill/>
        </p:spPr>
        <p:txBody>
          <a:bodyPr wrap="square" rtlCol="0">
            <a:spAutoFit/>
          </a:bodyPr>
          <a:lstStyle/>
          <a:p>
            <a:r>
              <a:rPr lang="en-US" dirty="0"/>
              <a:t>Retrieval-Augmented Generation, is an AI framework that combines the strengths of large language models (LLMs) with external knowledge sources. It enhances the capabilities of LLMs by allowing them to access and incorporate information from outside their training data, leading to more accurate, up-to-date, and relevant responses. </a:t>
            </a:r>
            <a:endParaRPr lang="en-IN" dirty="0"/>
          </a:p>
        </p:txBody>
      </p:sp>
      <p:sp>
        <p:nvSpPr>
          <p:cNvPr id="7" name="TextBox 6">
            <a:extLst>
              <a:ext uri="{FF2B5EF4-FFF2-40B4-BE49-F238E27FC236}">
                <a16:creationId xmlns:a16="http://schemas.microsoft.com/office/drawing/2014/main" id="{E53F82E2-22C9-DD25-54CF-E89661615D11}"/>
              </a:ext>
            </a:extLst>
          </p:cNvPr>
          <p:cNvSpPr txBox="1"/>
          <p:nvPr/>
        </p:nvSpPr>
        <p:spPr>
          <a:xfrm>
            <a:off x="650511" y="4309092"/>
            <a:ext cx="1325773" cy="584775"/>
          </a:xfrm>
          <a:prstGeom prst="rect">
            <a:avLst/>
          </a:prstGeom>
          <a:noFill/>
        </p:spPr>
        <p:txBody>
          <a:bodyPr wrap="square" rtlCol="0">
            <a:spAutoFit/>
          </a:bodyPr>
          <a:lstStyle/>
          <a:p>
            <a:r>
              <a:rPr lang="en-US" sz="3200" dirty="0"/>
              <a:t>Gen AI</a:t>
            </a:r>
            <a:endParaRPr lang="en-IN" sz="3200" dirty="0"/>
          </a:p>
        </p:txBody>
      </p:sp>
      <p:sp>
        <p:nvSpPr>
          <p:cNvPr id="8" name="TextBox 7">
            <a:extLst>
              <a:ext uri="{FF2B5EF4-FFF2-40B4-BE49-F238E27FC236}">
                <a16:creationId xmlns:a16="http://schemas.microsoft.com/office/drawing/2014/main" id="{984273E8-5721-556B-EDE8-FA28DC2AAF7F}"/>
              </a:ext>
            </a:extLst>
          </p:cNvPr>
          <p:cNvSpPr txBox="1"/>
          <p:nvPr/>
        </p:nvSpPr>
        <p:spPr>
          <a:xfrm>
            <a:off x="668426" y="4941504"/>
            <a:ext cx="9978160" cy="1200329"/>
          </a:xfrm>
          <a:prstGeom prst="rect">
            <a:avLst/>
          </a:prstGeom>
          <a:noFill/>
        </p:spPr>
        <p:txBody>
          <a:bodyPr wrap="square" rtlCol="0">
            <a:spAutoFit/>
          </a:bodyPr>
          <a:lstStyle/>
          <a:p>
            <a:r>
              <a:rPr lang="en-US" dirty="0"/>
              <a:t>AI systems that can create new content like text, images, music, and videos. It's a subfield of AI focused on producing novel, original outputs based on patterns learned from existing data. GenAI models, often large language models (LLMs), can be trained on vast datasets and then used to generate new, realistic content in various formats. </a:t>
            </a:r>
            <a:endParaRPr lang="en-IN" dirty="0"/>
          </a:p>
        </p:txBody>
      </p:sp>
    </p:spTree>
    <p:extLst>
      <p:ext uri="{BB962C8B-B14F-4D97-AF65-F5344CB8AC3E}">
        <p14:creationId xmlns:p14="http://schemas.microsoft.com/office/powerpoint/2010/main" val="2046870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FC9960-0ABC-5963-E5BB-1F111D916739}"/>
              </a:ext>
            </a:extLst>
          </p:cNvPr>
          <p:cNvSpPr txBox="1"/>
          <p:nvPr/>
        </p:nvSpPr>
        <p:spPr>
          <a:xfrm>
            <a:off x="4243922" y="2703559"/>
            <a:ext cx="3704156" cy="1107996"/>
          </a:xfrm>
          <a:prstGeom prst="rect">
            <a:avLst/>
          </a:prstGeom>
          <a:noFill/>
        </p:spPr>
        <p:txBody>
          <a:bodyPr wrap="none" rtlCol="0">
            <a:spAutoFit/>
          </a:bodyPr>
          <a:lstStyle/>
          <a:p>
            <a:r>
              <a:rPr lang="en-US" sz="6600" dirty="0"/>
              <a:t>Thank You</a:t>
            </a:r>
            <a:endParaRPr lang="en-IN" sz="6600" dirty="0"/>
          </a:p>
        </p:txBody>
      </p:sp>
    </p:spTree>
    <p:extLst>
      <p:ext uri="{BB962C8B-B14F-4D97-AF65-F5344CB8AC3E}">
        <p14:creationId xmlns:p14="http://schemas.microsoft.com/office/powerpoint/2010/main" val="329250946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25</TotalTime>
  <Words>350</Words>
  <Application>Microsoft Office PowerPoint</Application>
  <PresentationFormat>Widescreen</PresentationFormat>
  <Paragraphs>20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Retrospect</vt:lpstr>
      <vt:lpstr>Multi-Agent System for Adaptive Production Scheduling: Develop a multi-agent system where individual agents represent different machines and production lines. They use generative AI to dynamically adjust production schedules in response to unforeseen events (e.g., machine breakdown, rush orders) and RAG to access real-time factory data</vt:lpstr>
      <vt:lpstr>Production Scheduling</vt:lpstr>
      <vt:lpstr>Multi- agent System Workflow</vt:lpstr>
      <vt:lpstr>Methodologies Used</vt:lpstr>
      <vt:lpstr>Agent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taterdhruv0310@outlook.com</dc:creator>
  <cp:lastModifiedBy>taterdhruv0310@outlook.com</cp:lastModifiedBy>
  <cp:revision>3</cp:revision>
  <dcterms:created xsi:type="dcterms:W3CDTF">2025-08-12T18:07:03Z</dcterms:created>
  <dcterms:modified xsi:type="dcterms:W3CDTF">2025-09-21T19:24:38Z</dcterms:modified>
</cp:coreProperties>
</file>